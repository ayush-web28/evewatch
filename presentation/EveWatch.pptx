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Today I am presenting EveWatch, our project for the Quantum Secure Communication track at Qiskit Fall Fest 2026. EveWatch tackles a fundamental and often overlooked question in Quantum Key Distribution: When Alice and Bob detect transmission errors, can they genuinely distinguish an active eavesdropper from baseline hardware noise? Over the next 10 minutes, I will show our end-to-end Qiskit 2.x implementation, our empirical findings across hundreds of trials, and our working Streamlit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sets the foundation. We explain why classical cryptography faces an existential deadline from Shor's algorithm. Quantum Key Distribution solves this by grounding security in the No-Cloning Theorem and Heisenberg Uncertainty Principle. Any eavesdropping creates physical disturbances that Alice and Bob can observe directly in the Quantum Bit Error 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differentiator that sets EveWatch apart from standard student projects. Most tutorials assume perfect noiseless physics where QBER &gt; 0 immediately flags Eve. In reality, optical fibers and superconducting qubits have natural background noise. If Alice and Bob observe an 8% QBER, is that 16% channel noise, or Eve intercepting 32% of bits? This ambiguity is what EveWatch investigates mathematically and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breaks down the four stages of BB84 in plain language for judges. Alice encodes random bits in conjugate bases. Bob measures in random bases. Sifting discards 50% where bases disagreed. Finally, QBER estimation tests whether the quantum channel was tapped.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modular software engineering architecture. We separated protocol execution, adversary modeling, noise generation, and statistical analysis into decoupled, pure modules. Every function has full docstrings and type hints, and all simulation results are pinned by random seeds for strict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our Qiskit implementation depth. We don't use deprecated APIs. By leveraging Aer's stabilizer method for Clifford operations, our simulations run in polynomial time O(N). We can simulate 1,000 qubits in 35 milliseconds, allowing us to run 50+ Monte Carlo trials per data point quickly and reliably.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presents our first empirical results. Our simulation confirms the 25% intercept-resend error rate derived by Bennett and Brassard. Crucially, notice the blind zone: if Eve only taps 40% of qubits, the error rate stays under 11%. This proves that a simple threshold alone is insufficient when background noise exists.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2D parameter heatmap. This visualizes the joint effect of optical noise and eavesdropping. The dashed cyan contour marks the 11% Shor-Preskill limit. Everything above and to the right must be aborted. Notice the fundamental equifinality: multiple distinct combinations of noise and interception map to identical QBER 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reveals our answer to the central research question. When operating near the 11% threshold, small sample sizes of 50 bits suffer from high binomial variance, leading to 26% false alarms and 28% missed detections. By scaling the sacrificed sample size to K &gt;= 600 bits, Alice and Bob compress the error variance and eliminate both errors to under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interactive Streamlit prototype. It features four dedicated tabs: an interactive transmission step-by-step table, an experiment visualizer, a live One-Time Pad text encryption tool, and an educational explainer. It runs smoothly with streamlit run app.py.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highlights our competitive differentiation for the judges. Unlike generic student projects using legacy APIs and idealized assumptions, EveWatch delivers modern Qiskit 2.x stabilizer performance, multi-tiered hardware noise modeling, continuous adversary fractions, and statistically rigorous sample scaling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believe scientific credibility requires acknowledging honest limitations. Our work is simulation-based and focuses on intercept-resend. Looking forward, we have a clear roadmap to incorporate decoy-state protocols, E91 entanglement verification, and hybrid post-quantum cryptography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EveWatch proves that while physical errors conflate eavesdropping and hardware noise, statistical sample scaling provides the key to reliable, provable quantum communication. Our full codebase, tests, figures, and Streamlit app are open-source on GitHub at github.com/Ayush-web28/EveWatch.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5000" b="1">
                <a:solidFill>
                  <a:srgbClr val="1E88E5"/>
                </a:solidFill>
              </a:defRPr>
            </a:pPr>
            <a:r>
              <a:t>EVEWATCH</a:t>
            </a:r>
          </a:p>
          <a:p>
            <a:pPr>
              <a:spcBef>
                <a:spcPts val="800"/>
              </a:spcBef>
              <a:defRPr sz="2600" b="1">
                <a:solidFill>
                  <a:srgbClr val="FFFFFF"/>
                </a:solidFill>
              </a:defRPr>
            </a:pPr>
            <a:r>
              <a:t>Distinguishing Quantum Eavesdroppers from Hardware Noise in BB84</a:t>
            </a:r>
          </a:p>
          <a:p>
            <a:pPr>
              <a:spcBef>
                <a:spcPts val="2400"/>
              </a:spcBef>
              <a:defRPr sz="1600">
                <a:solidFill>
                  <a:srgbClr val="94A3B8"/>
                </a:solidFill>
              </a:defRPr>
            </a:pPr>
            <a:r>
              <a:t>Track: Quantum Secure Communication | Qiskit Fall Fest 2026 @ MPSTME, NMIMS Mumbai</a:t>
            </a:r>
            <a:br/>
            <a:r>
              <a:t>Team: Ayush Trivedi | Built with Qiskit 2.x &amp; IBM Quantum AerSimulator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Why Current Cryptography is at Risk &amp; Why Quantum?</a:t>
            </a:r>
          </a:p>
        </p:txBody>
      </p:sp>
      <p:sp>
        <p:nvSpPr>
          <p:cNvPr id="3" name="Rounded Rectangle 2"/>
          <p:cNvSpPr/>
          <p:nvPr/>
        </p:nvSpPr>
        <p:spPr>
          <a:xfrm>
            <a:off x="731520" y="1645920"/>
            <a:ext cx="512064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114800"/>
          </a:xfrm>
          <a:prstGeom prst="rect">
            <a:avLst/>
          </a:prstGeom>
          <a:noFill/>
        </p:spPr>
        <p:txBody>
          <a:bodyPr wrap="square">
            <a:spAutoFit/>
          </a:bodyPr>
          <a:lstStyle/>
          <a:p>
            <a:pPr>
              <a:defRPr sz="2000" b="1">
                <a:solidFill>
                  <a:srgbClr val="D32F2F"/>
                </a:solidFill>
              </a:defRPr>
            </a:pPr>
            <a:r>
              <a:t>The Classical Crypto Collapse</a:t>
            </a:r>
          </a:p>
          <a:p>
            <a:pPr>
              <a:spcBef>
                <a:spcPts val="1200"/>
              </a:spcBef>
              <a:defRPr sz="1400">
                <a:solidFill>
                  <a:srgbClr val="1E293B"/>
                </a:solidFill>
              </a:defRPr>
            </a:pPr>
            <a:r>
              <a:t>• Computational Assumptions: RSA, ECC, and Diffie-Hellman depend on the mathematical hardness of integer factorization &amp; discrete logs.</a:t>
            </a:r>
          </a:p>
          <a:p>
            <a:pPr>
              <a:spcBef>
                <a:spcPts val="1200"/>
              </a:spcBef>
              <a:defRPr sz="1400">
                <a:solidFill>
                  <a:srgbClr val="1E293B"/>
                </a:solidFill>
              </a:defRPr>
            </a:pPr>
            <a:r>
              <a:t>• Shor's Algorithm Threat: A fault-tolerant quantum computer solves these problems in polynomial time O((log N)³).</a:t>
            </a:r>
          </a:p>
          <a:p>
            <a:pPr>
              <a:spcBef>
                <a:spcPts val="1200"/>
              </a:spcBef>
              <a:defRPr sz="1400">
                <a:solidFill>
                  <a:srgbClr val="1E293B"/>
                </a:solidFill>
              </a:defRPr>
            </a:pPr>
            <a:r>
              <a:t>• Harvest Now, Decrypt Later: Adversaries are actively intercepting and storing encrypted traffic today to decrypt once quantum hardware arrives.</a:t>
            </a:r>
          </a:p>
        </p:txBody>
      </p:sp>
      <p:sp>
        <p:nvSpPr>
          <p:cNvPr id="5" name="Rounded Rectangle 4"/>
          <p:cNvSpPr/>
          <p:nvPr/>
        </p:nvSpPr>
        <p:spPr>
          <a:xfrm>
            <a:off x="6217920" y="1645920"/>
            <a:ext cx="52120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663440" cy="4114800"/>
          </a:xfrm>
          <a:prstGeom prst="rect">
            <a:avLst/>
          </a:prstGeom>
          <a:noFill/>
        </p:spPr>
        <p:txBody>
          <a:bodyPr wrap="square">
            <a:spAutoFit/>
          </a:bodyPr>
          <a:lstStyle/>
          <a:p>
            <a:pPr>
              <a:defRPr sz="2000" b="1">
                <a:solidFill>
                  <a:srgbClr val="2E7D32"/>
                </a:solidFill>
              </a:defRPr>
            </a:pPr>
            <a:r>
              <a:t>The Quantum Solution (QKD)</a:t>
            </a:r>
          </a:p>
          <a:p>
            <a:pPr>
              <a:spcBef>
                <a:spcPts val="1000"/>
              </a:spcBef>
              <a:defRPr sz="1400">
                <a:solidFill>
                  <a:srgbClr val="1E293B"/>
                </a:solidFill>
              </a:defRPr>
            </a:pPr>
            <a:r>
              <a:t>• Information-Theoretic Security: Derived from the fundamental laws of quantum physics, not mathematical complexity.</a:t>
            </a:r>
          </a:p>
          <a:p>
            <a:pPr>
              <a:spcBef>
                <a:spcPts val="1000"/>
              </a:spcBef>
              <a:defRPr sz="1400">
                <a:solidFill>
                  <a:srgbClr val="1E293B"/>
                </a:solidFill>
              </a:defRPr>
            </a:pPr>
            <a:r>
              <a:t>• No-Cloning Theorem: An arbitrary unknown quantum state cannot be copied without perturbation.</a:t>
            </a:r>
          </a:p>
          <a:p>
            <a:pPr>
              <a:spcBef>
                <a:spcPts val="1000"/>
              </a:spcBef>
              <a:defRPr sz="1400">
                <a:solidFill>
                  <a:srgbClr val="1E293B"/>
                </a:solidFill>
              </a:defRPr>
            </a:pPr>
            <a:r>
              <a:t>• Heisenberg Uncertainty: Any eavesdropper measuring a flying qubit inevitably collapses the state, introducing detectable errors.</a:t>
            </a:r>
          </a:p>
          <a:p>
            <a:pPr>
              <a:spcBef>
                <a:spcPts val="1000"/>
              </a:spcBef>
              <a:defRPr sz="1400">
                <a:solidFill>
                  <a:srgbClr val="1E293B"/>
                </a:solidFill>
              </a:defRPr>
            </a:pPr>
            <a:r>
              <a:t>• Future-Proof: Security remains unbreakable even against adversaries with infinite computational power.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The Central Research Question: The Noise vs. Eve Dilemma</a:t>
            </a:r>
          </a:p>
        </p:txBody>
      </p:sp>
      <p:sp>
        <p:nvSpPr>
          <p:cNvPr id="3" name="Rounded Rectangle 2"/>
          <p:cNvSpPr/>
          <p:nvPr/>
        </p:nvSpPr>
        <p:spPr>
          <a:xfrm>
            <a:off x="731520" y="1645920"/>
            <a:ext cx="10698480" cy="1828800"/>
          </a:xfrm>
          <a:prstGeom prst="roundRect">
            <a:avLst/>
          </a:prstGeom>
          <a:solidFill>
            <a:srgbClr val="EEF2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1463040"/>
          </a:xfrm>
          <a:prstGeom prst="rect">
            <a:avLst/>
          </a:prstGeom>
          <a:noFill/>
        </p:spPr>
        <p:txBody>
          <a:bodyPr wrap="square">
            <a:spAutoFit/>
          </a:bodyPr>
          <a:lstStyle/>
          <a:p>
            <a:pPr>
              <a:defRPr sz="2000" b="1">
                <a:solidFill>
                  <a:srgbClr val="1E88E5"/>
                </a:solidFill>
              </a:defRPr>
            </a:pPr>
            <a:r>
              <a:t>THE CORE QUESTION: 'Can Alice and Bob tell an eavesdropper from hardware noise?'</a:t>
            </a:r>
          </a:p>
          <a:p>
            <a:pPr>
              <a:spcBef>
                <a:spcPts val="600"/>
              </a:spcBef>
              <a:defRPr sz="1400">
                <a:solidFill>
                  <a:srgbClr val="1E293B"/>
                </a:solidFill>
              </a:defRPr>
            </a:pPr>
            <a:r>
              <a:t>Textbook BB84 assumes an idealized noiseless channel where any error implies an adversary. In real quantum networks and hardware, thermal noise, fiber attenuation, and gate infidelities continuously generate errors. Can classical parties disentangle malicious interception from environmental noise?</a:t>
            </a:r>
          </a:p>
        </p:txBody>
      </p:sp>
      <p:sp>
        <p:nvSpPr>
          <p:cNvPr id="5" name="Rounded Rectangle 4"/>
          <p:cNvSpPr/>
          <p:nvPr/>
        </p:nvSpPr>
        <p:spPr>
          <a:xfrm>
            <a:off x="731520" y="3749039"/>
            <a:ext cx="5120640" cy="2560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931920"/>
            <a:ext cx="4572000" cy="2194560"/>
          </a:xfrm>
          <a:prstGeom prst="rect">
            <a:avLst/>
          </a:prstGeom>
          <a:noFill/>
        </p:spPr>
        <p:txBody>
          <a:bodyPr wrap="square">
            <a:spAutoFit/>
          </a:bodyPr>
          <a:lstStyle/>
          <a:p>
            <a:pPr>
              <a:defRPr sz="1700" b="1">
                <a:solidFill>
                  <a:srgbClr val="182B49"/>
                </a:solidFill>
              </a:defRPr>
            </a:pPr>
            <a:r>
              <a:t>Physical Noise Realities</a:t>
            </a:r>
          </a:p>
          <a:p>
            <a:pPr>
              <a:spcBef>
                <a:spcPts val="400"/>
              </a:spcBef>
              <a:defRPr sz="1300">
                <a:solidFill>
                  <a:srgbClr val="1E293B"/>
                </a:solidFill>
              </a:defRPr>
            </a:pPr>
            <a:r>
              <a:t>• Optical fiber Rayleigh scattering &amp; birefringence.</a:t>
            </a:r>
          </a:p>
          <a:p>
            <a:pPr>
              <a:spcBef>
                <a:spcPts val="400"/>
              </a:spcBef>
              <a:defRPr sz="1300">
                <a:solidFill>
                  <a:srgbClr val="1E293B"/>
                </a:solidFill>
              </a:defRPr>
            </a:pPr>
            <a:r>
              <a:t>• Single-photon detector dark counts &amp; readout errors.</a:t>
            </a:r>
          </a:p>
          <a:p>
            <a:pPr>
              <a:spcBef>
                <a:spcPts val="400"/>
              </a:spcBef>
              <a:defRPr sz="1300">
                <a:solidFill>
                  <a:srgbClr val="1E293B"/>
                </a:solidFill>
              </a:defRPr>
            </a:pPr>
            <a:r>
              <a:t>• Qubit decoherence (T1 relaxation, T2 dephasing).</a:t>
            </a:r>
          </a:p>
          <a:p>
            <a:pPr>
              <a:spcBef>
                <a:spcPts val="400"/>
              </a:spcBef>
              <a:defRPr sz="1300">
                <a:solidFill>
                  <a:srgbClr val="1E293B"/>
                </a:solidFill>
              </a:defRPr>
            </a:pPr>
            <a:r>
              <a:t>• Result: Constant baseline background QBER (2-6%).</a:t>
            </a:r>
          </a:p>
        </p:txBody>
      </p:sp>
      <p:sp>
        <p:nvSpPr>
          <p:cNvPr id="7" name="Rounded Rectangle 6"/>
          <p:cNvSpPr/>
          <p:nvPr/>
        </p:nvSpPr>
        <p:spPr>
          <a:xfrm>
            <a:off x="6217920" y="3749039"/>
            <a:ext cx="5212080" cy="2560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931920"/>
            <a:ext cx="4663440" cy="2194560"/>
          </a:xfrm>
          <a:prstGeom prst="rect">
            <a:avLst/>
          </a:prstGeom>
          <a:noFill/>
        </p:spPr>
        <p:txBody>
          <a:bodyPr wrap="square">
            <a:spAutoFit/>
          </a:bodyPr>
          <a:lstStyle/>
          <a:p>
            <a:pPr>
              <a:defRPr sz="1700" b="1">
                <a:solidFill>
                  <a:srgbClr val="6D28D9"/>
                </a:solidFill>
              </a:defRPr>
            </a:pPr>
            <a:r>
              <a:t>Adversarial Eavesdropping (Eve)</a:t>
            </a:r>
          </a:p>
          <a:p>
            <a:pPr>
              <a:spcBef>
                <a:spcPts val="400"/>
              </a:spcBef>
              <a:defRPr sz="1300">
                <a:solidFill>
                  <a:srgbClr val="1E293B"/>
                </a:solidFill>
              </a:defRPr>
            </a:pPr>
            <a:r>
              <a:t>• Eve intercepts a fraction f in [0, 1] of transmitted qubits.</a:t>
            </a:r>
          </a:p>
          <a:p>
            <a:pPr>
              <a:spcBef>
                <a:spcPts val="400"/>
              </a:spcBef>
              <a:defRPr sz="1300">
                <a:solidFill>
                  <a:srgbClr val="1E293B"/>
                </a:solidFill>
              </a:defRPr>
            </a:pPr>
            <a:r>
              <a:t>• Measures in random bases (Z or X) and resends state.</a:t>
            </a:r>
          </a:p>
          <a:p>
            <a:pPr>
              <a:spcBef>
                <a:spcPts val="400"/>
              </a:spcBef>
              <a:defRPr sz="1300">
                <a:solidFill>
                  <a:srgbClr val="1E293B"/>
                </a:solidFill>
              </a:defRPr>
            </a:pPr>
            <a:r>
              <a:t>• Introduces 25% error on intercepted sifted qubits.</a:t>
            </a:r>
          </a:p>
          <a:p>
            <a:pPr>
              <a:spcBef>
                <a:spcPts val="400"/>
              </a:spcBef>
              <a:defRPr sz="1300">
                <a:solidFill>
                  <a:srgbClr val="1E293B"/>
                </a:solidFill>
              </a:defRPr>
            </a:pPr>
            <a:r>
              <a:t>• Result: QBER scales as 0.25 * f on a clean channel.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BB84 Protocol: 4 Steps from Photons to Secret Key</a:t>
            </a:r>
          </a:p>
        </p:txBody>
      </p:sp>
      <p:sp>
        <p:nvSpPr>
          <p:cNvPr id="3" name="Rounded Rectangle 2"/>
          <p:cNvSpPr/>
          <p:nvPr/>
        </p:nvSpPr>
        <p:spPr>
          <a:xfrm>
            <a:off x="731520" y="1645920"/>
            <a:ext cx="10698480"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19072"/>
            <a:ext cx="10149840" cy="868680"/>
          </a:xfrm>
          <a:prstGeom prst="rect">
            <a:avLst/>
          </a:prstGeom>
          <a:noFill/>
        </p:spPr>
        <p:txBody>
          <a:bodyPr wrap="square">
            <a:spAutoFit/>
          </a:bodyPr>
          <a:lstStyle/>
          <a:p>
            <a:pPr>
              <a:defRPr sz="1600" b="1">
                <a:solidFill>
                  <a:srgbClr val="1E88E5"/>
                </a:solidFill>
              </a:defRPr>
            </a:pPr>
            <a:r>
              <a:t>Step 1: State Preparation (Alice)</a:t>
            </a:r>
          </a:p>
          <a:p>
            <a:pPr>
              <a:spcBef>
                <a:spcPts val="300"/>
              </a:spcBef>
              <a:defRPr sz="1300">
                <a:solidFill>
                  <a:srgbClr val="1E293B"/>
                </a:solidFill>
              </a:defRPr>
            </a:pPr>
            <a:r>
              <a:t>Alice creates random bits {0,1} and randomly selects between Computational (Z) and Hadamard (X) bases. Encodes single qubits: |0&gt;, |1&gt;, |+&gt;, |-&gt;.</a:t>
            </a:r>
          </a:p>
        </p:txBody>
      </p:sp>
      <p:sp>
        <p:nvSpPr>
          <p:cNvPr id="5" name="Rounded Rectangle 4"/>
          <p:cNvSpPr/>
          <p:nvPr/>
        </p:nvSpPr>
        <p:spPr>
          <a:xfrm>
            <a:off x="731520" y="2834640"/>
            <a:ext cx="10698480"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907792"/>
            <a:ext cx="10149840" cy="868680"/>
          </a:xfrm>
          <a:prstGeom prst="rect">
            <a:avLst/>
          </a:prstGeom>
          <a:noFill/>
        </p:spPr>
        <p:txBody>
          <a:bodyPr wrap="square">
            <a:spAutoFit/>
          </a:bodyPr>
          <a:lstStyle/>
          <a:p>
            <a:pPr>
              <a:defRPr sz="1600" b="1">
                <a:solidFill>
                  <a:srgbClr val="6D28D9"/>
                </a:solidFill>
              </a:defRPr>
            </a:pPr>
            <a:r>
              <a:t>Step 2: Quantum Transmission</a:t>
            </a:r>
          </a:p>
          <a:p>
            <a:pPr>
              <a:spcBef>
                <a:spcPts val="300"/>
              </a:spcBef>
              <a:defRPr sz="1300">
                <a:solidFill>
                  <a:srgbClr val="1E293B"/>
                </a:solidFill>
              </a:defRPr>
            </a:pPr>
            <a:r>
              <a:t>Photons traverse the quantum channel. If Eve intercepts, measuring collapses the wavefunction. Noise in transit introduces depolarizing perturbations.</a:t>
            </a:r>
          </a:p>
        </p:txBody>
      </p:sp>
      <p:sp>
        <p:nvSpPr>
          <p:cNvPr id="7" name="Rounded Rectangle 6"/>
          <p:cNvSpPr/>
          <p:nvPr/>
        </p:nvSpPr>
        <p:spPr>
          <a:xfrm>
            <a:off x="731520" y="4023360"/>
            <a:ext cx="10698480"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096512"/>
            <a:ext cx="10149840" cy="868680"/>
          </a:xfrm>
          <a:prstGeom prst="rect">
            <a:avLst/>
          </a:prstGeom>
          <a:noFill/>
        </p:spPr>
        <p:txBody>
          <a:bodyPr wrap="square">
            <a:spAutoFit/>
          </a:bodyPr>
          <a:lstStyle/>
          <a:p>
            <a:pPr>
              <a:defRPr sz="1600" b="1">
                <a:solidFill>
                  <a:srgbClr val="2E7D32"/>
                </a:solidFill>
              </a:defRPr>
            </a:pPr>
            <a:r>
              <a:t>Step 3: Bob Measures &amp; Key Sifting</a:t>
            </a:r>
          </a:p>
          <a:p>
            <a:pPr>
              <a:spcBef>
                <a:spcPts val="300"/>
              </a:spcBef>
              <a:defRPr sz="1300">
                <a:solidFill>
                  <a:srgbClr val="1E293B"/>
                </a:solidFill>
              </a:defRPr>
            </a:pPr>
            <a:r>
              <a:t>Bob independently picks random measurement bases. Alice and Bob publicly share their bases (not bits!). Retain positions where bases match (~50% yield).</a:t>
            </a:r>
          </a:p>
        </p:txBody>
      </p:sp>
      <p:sp>
        <p:nvSpPr>
          <p:cNvPr id="9" name="Rounded Rectangle 8"/>
          <p:cNvSpPr/>
          <p:nvPr/>
        </p:nvSpPr>
        <p:spPr>
          <a:xfrm>
            <a:off x="731520" y="5212080"/>
            <a:ext cx="10698480"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285232"/>
            <a:ext cx="10149840" cy="868680"/>
          </a:xfrm>
          <a:prstGeom prst="rect">
            <a:avLst/>
          </a:prstGeom>
          <a:noFill/>
        </p:spPr>
        <p:txBody>
          <a:bodyPr wrap="square">
            <a:spAutoFit/>
          </a:bodyPr>
          <a:lstStyle/>
          <a:p>
            <a:pPr>
              <a:defRPr sz="1600" b="1">
                <a:solidFill>
                  <a:srgbClr val="D32F2F"/>
                </a:solidFill>
              </a:defRPr>
            </a:pPr>
            <a:r>
              <a:t>Step 4: QBER Verification &amp; Decision</a:t>
            </a:r>
          </a:p>
          <a:p>
            <a:pPr>
              <a:spcBef>
                <a:spcPts val="300"/>
              </a:spcBef>
              <a:defRPr sz="1300">
                <a:solidFill>
                  <a:srgbClr val="1E293B"/>
                </a:solidFill>
              </a:defRPr>
            </a:pPr>
            <a:r>
              <a:t>Parties reveal and sacrifice sample K. If QBER &gt; 11.0% (Shor-Preskill security limit), ABORT! If &lt;= 11%, apply error correction &amp; SHA-256 privacy amplification.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EveWatch Quantum Approach &amp; Modular Architecture</a:t>
            </a:r>
          </a:p>
        </p:txBody>
      </p:sp>
      <p:sp>
        <p:nvSpPr>
          <p:cNvPr id="3" name="Rounded Rectangle 2"/>
          <p:cNvSpPr/>
          <p:nvPr/>
        </p:nvSpPr>
        <p:spPr>
          <a:xfrm>
            <a:off x="731520" y="1645920"/>
            <a:ext cx="256032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2286000" cy="4023360"/>
          </a:xfrm>
          <a:prstGeom prst="rect">
            <a:avLst/>
          </a:prstGeom>
          <a:noFill/>
        </p:spPr>
        <p:txBody>
          <a:bodyPr wrap="square">
            <a:spAutoFit/>
          </a:bodyPr>
          <a:lstStyle/>
          <a:p>
            <a:pPr>
              <a:defRPr sz="1600" b="1">
                <a:solidFill>
                  <a:srgbClr val="182B49"/>
                </a:solidFill>
              </a:defRPr>
            </a:pPr>
            <a:r>
              <a:t>bb84.protocol</a:t>
            </a:r>
          </a:p>
          <a:p>
            <a:pPr>
              <a:spcBef>
                <a:spcPts val="1000"/>
              </a:spcBef>
              <a:defRPr sz="1300">
                <a:solidFill>
                  <a:srgbClr val="1E293B"/>
                </a:solidFill>
              </a:defRPr>
            </a:pPr>
            <a:r>
              <a:t>Pure Qiskit 2.x protocol runner.</a:t>
            </a:r>
            <a:br/>
            <a:r>
              <a:t>Builds consolidated Clifford circuits.</a:t>
            </a:r>
            <a:br/>
            <a:r>
              <a:t>Performs sifting and sampling.</a:t>
            </a:r>
            <a:br/>
            <a:r>
              <a:t>UI-independent &amp; deterministic.</a:t>
            </a:r>
          </a:p>
        </p:txBody>
      </p:sp>
      <p:sp>
        <p:nvSpPr>
          <p:cNvPr id="5" name="Rounded Rectangle 4"/>
          <p:cNvSpPr/>
          <p:nvPr/>
        </p:nvSpPr>
        <p:spPr>
          <a:xfrm>
            <a:off x="3429000" y="1645920"/>
            <a:ext cx="256032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828800"/>
            <a:ext cx="2286000" cy="4023360"/>
          </a:xfrm>
          <a:prstGeom prst="rect">
            <a:avLst/>
          </a:prstGeom>
          <a:noFill/>
        </p:spPr>
        <p:txBody>
          <a:bodyPr wrap="square">
            <a:spAutoFit/>
          </a:bodyPr>
          <a:lstStyle/>
          <a:p>
            <a:pPr>
              <a:defRPr sz="1600" b="1">
                <a:solidFill>
                  <a:srgbClr val="182B49"/>
                </a:solidFill>
              </a:defRPr>
            </a:pPr>
            <a:r>
              <a:t>bb84.eve</a:t>
            </a:r>
          </a:p>
          <a:p>
            <a:pPr>
              <a:spcBef>
                <a:spcPts val="1000"/>
              </a:spcBef>
              <a:defRPr sz="1300">
                <a:solidFill>
                  <a:srgbClr val="1E293B"/>
                </a:solidFill>
              </a:defRPr>
            </a:pPr>
            <a:r>
              <a:t>Intercept-resend adversary.</a:t>
            </a:r>
            <a:br/>
            <a:r>
              <a:t>Continuous fraction f in [0, 1].</a:t>
            </a:r>
            <a:br/>
            <a:r>
              <a:t>Random basis rotation.</a:t>
            </a:r>
            <a:br/>
            <a:r>
              <a:t>Measurement collapse &amp; resend.</a:t>
            </a:r>
          </a:p>
        </p:txBody>
      </p:sp>
      <p:sp>
        <p:nvSpPr>
          <p:cNvPr id="7" name="Rounded Rectangle 6"/>
          <p:cNvSpPr/>
          <p:nvPr/>
        </p:nvSpPr>
        <p:spPr>
          <a:xfrm>
            <a:off x="6126480" y="1645920"/>
            <a:ext cx="256032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828800"/>
            <a:ext cx="2286000" cy="4023360"/>
          </a:xfrm>
          <a:prstGeom prst="rect">
            <a:avLst/>
          </a:prstGeom>
          <a:noFill/>
        </p:spPr>
        <p:txBody>
          <a:bodyPr wrap="square">
            <a:spAutoFit/>
          </a:bodyPr>
          <a:lstStyle/>
          <a:p>
            <a:pPr>
              <a:defRPr sz="1600" b="1">
                <a:solidFill>
                  <a:srgbClr val="182B49"/>
                </a:solidFill>
              </a:defRPr>
            </a:pPr>
            <a:r>
              <a:t>bb84.noise</a:t>
            </a:r>
          </a:p>
          <a:p>
            <a:pPr>
              <a:spcBef>
                <a:spcPts val="1000"/>
              </a:spcBef>
              <a:defRPr sz="1300">
                <a:solidFill>
                  <a:srgbClr val="1E293B"/>
                </a:solidFill>
              </a:defRPr>
            </a:pPr>
            <a:r>
              <a:t>Optical channel depolarizing error.</a:t>
            </a:r>
            <a:br/>
            <a:r>
              <a:t>Gate infidelities &amp; readout error.</a:t>
            </a:r>
            <a:br/>
            <a:r>
              <a:t>IBM Fake Provider integration</a:t>
            </a:r>
            <a:br/>
            <a:r>
              <a:t>(FakeBrisbane 127Q).</a:t>
            </a:r>
          </a:p>
        </p:txBody>
      </p:sp>
      <p:sp>
        <p:nvSpPr>
          <p:cNvPr id="9" name="Rounded Rectangle 8"/>
          <p:cNvSpPr/>
          <p:nvPr/>
        </p:nvSpPr>
        <p:spPr>
          <a:xfrm>
            <a:off x="8823960" y="1645920"/>
            <a:ext cx="256032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828800"/>
            <a:ext cx="2286000" cy="4023360"/>
          </a:xfrm>
          <a:prstGeom prst="rect">
            <a:avLst/>
          </a:prstGeom>
          <a:noFill/>
        </p:spPr>
        <p:txBody>
          <a:bodyPr wrap="square">
            <a:spAutoFit/>
          </a:bodyPr>
          <a:lstStyle/>
          <a:p>
            <a:pPr>
              <a:defRPr sz="1600" b="1">
                <a:solidFill>
                  <a:srgbClr val="182B49"/>
                </a:solidFill>
              </a:defRPr>
            </a:pPr>
            <a:r>
              <a:t>bb84.analysis</a:t>
            </a:r>
          </a:p>
          <a:p>
            <a:pPr>
              <a:spcBef>
                <a:spcPts val="1000"/>
              </a:spcBef>
              <a:defRPr sz="1300">
                <a:solidFill>
                  <a:srgbClr val="1E293B"/>
                </a:solidFill>
              </a:defRPr>
            </a:pPr>
            <a:r>
              <a:t>Shannon entropy H2(Q).</a:t>
            </a:r>
            <a:br/>
            <a:r>
              <a:t>Shor-Preskill rate: 1 - 2*H2(Q).</a:t>
            </a:r>
            <a:br/>
            <a:r>
              <a:t>False Alarm Rate (FAR).</a:t>
            </a:r>
            <a:br/>
            <a:r>
              <a:t>Missed Detection Rate (MDR).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Qiskit 2.x Implementation: High-Performance Clifford Simulation</a:t>
            </a:r>
          </a:p>
        </p:txBody>
      </p:sp>
      <p:sp>
        <p:nvSpPr>
          <p:cNvPr id="3" name="Rounded Rectangle 2"/>
          <p:cNvSpPr/>
          <p:nvPr/>
        </p:nvSpPr>
        <p:spPr>
          <a:xfrm>
            <a:off x="731520" y="1645920"/>
            <a:ext cx="512064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114800"/>
          </a:xfrm>
          <a:prstGeom prst="rect">
            <a:avLst/>
          </a:prstGeom>
          <a:noFill/>
        </p:spPr>
        <p:txBody>
          <a:bodyPr wrap="square">
            <a:spAutoFit/>
          </a:bodyPr>
          <a:lstStyle/>
          <a:p>
            <a:pPr>
              <a:defRPr sz="1900" b="1">
                <a:solidFill>
                  <a:srgbClr val="1E88E5"/>
                </a:solidFill>
              </a:defRPr>
            </a:pPr>
            <a:r>
              <a:t>Strict Qiskit 2.x API Compliance</a:t>
            </a:r>
          </a:p>
          <a:p>
            <a:pPr>
              <a:spcBef>
                <a:spcPts val="800"/>
              </a:spcBef>
              <a:defRPr sz="1300">
                <a:solidFill>
                  <a:srgbClr val="1E293B"/>
                </a:solidFill>
              </a:defRPr>
            </a:pPr>
            <a:r>
              <a:t>• Current APIs Only: No legacy execute() or BasicAer. Uses AerSimulator directly.</a:t>
            </a:r>
          </a:p>
          <a:p>
            <a:pPr>
              <a:spcBef>
                <a:spcPts val="800"/>
              </a:spcBef>
              <a:defRPr sz="1300">
                <a:solidFill>
                  <a:srgbClr val="1E293B"/>
                </a:solidFill>
              </a:defRPr>
            </a:pPr>
            <a:r>
              <a:t>• Stabilizer Method O(N): Because BB84 uses only Clifford operations (H, X, Id, Measure), AerSimulator(method='stabilizer') simulates 1000 qubits in 35 milliseconds!</a:t>
            </a:r>
          </a:p>
          <a:p>
            <a:pPr>
              <a:spcBef>
                <a:spcPts val="800"/>
              </a:spcBef>
              <a:defRPr sz="1300">
                <a:solidFill>
                  <a:srgbClr val="1E293B"/>
                </a:solidFill>
              </a:defRPr>
            </a:pPr>
            <a:r>
              <a:t>• Mid-Circuit Measurement: Eve measures mid-circuit, collapsing the quantum register before Bob's basis rotation.</a:t>
            </a:r>
          </a:p>
          <a:p>
            <a:pPr>
              <a:spcBef>
                <a:spcPts val="800"/>
              </a:spcBef>
              <a:defRPr sz="1300">
                <a:solidFill>
                  <a:srgbClr val="1E293B"/>
                </a:solidFill>
              </a:defRPr>
            </a:pPr>
            <a:r>
              <a:t>• Channel Transit: 'Id' gates placed on transit qubits expose photons to optical depolarizing Kraus noise.</a:t>
            </a:r>
          </a:p>
        </p:txBody>
      </p:sp>
      <p:sp>
        <p:nvSpPr>
          <p:cNvPr id="5" name="Rounded Rectangle 4"/>
          <p:cNvSpPr/>
          <p:nvPr/>
        </p:nvSpPr>
        <p:spPr>
          <a:xfrm>
            <a:off x="6217920" y="1645920"/>
            <a:ext cx="52120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663440" cy="4114800"/>
          </a:xfrm>
          <a:prstGeom prst="rect">
            <a:avLst/>
          </a:prstGeom>
          <a:noFill/>
        </p:spPr>
        <p:txBody>
          <a:bodyPr wrap="square">
            <a:spAutoFit/>
          </a:bodyPr>
          <a:lstStyle/>
          <a:p>
            <a:pPr>
              <a:defRPr sz="1900" b="1">
                <a:solidFill>
                  <a:srgbClr val="6D28D9"/>
                </a:solidFill>
              </a:defRPr>
            </a:pPr>
            <a:r>
              <a:t>Multi-Tiered Noise Modeling</a:t>
            </a:r>
          </a:p>
          <a:p>
            <a:pPr>
              <a:spcBef>
                <a:spcPts val="800"/>
              </a:spcBef>
              <a:defRPr sz="1300">
                <a:solidFill>
                  <a:srgbClr val="1E293B"/>
                </a:solidFill>
              </a:defRPr>
            </a:pPr>
            <a:r>
              <a:t>• Optical Channel Depolarizing Noise: Parametric error pch on single-qubit transit.</a:t>
            </a:r>
          </a:p>
          <a:p>
            <a:pPr>
              <a:spcBef>
                <a:spcPts val="800"/>
              </a:spcBef>
              <a:defRPr sz="1300">
                <a:solidFill>
                  <a:srgbClr val="1E293B"/>
                </a:solidFill>
              </a:defRPr>
            </a:pPr>
            <a:r>
              <a:t>• Gate Depolarizing Error: Models imperfect RF pulses during H and X rotations.</a:t>
            </a:r>
          </a:p>
          <a:p>
            <a:pPr>
              <a:spcBef>
                <a:spcPts val="800"/>
              </a:spcBef>
              <a:defRPr sz="1300">
                <a:solidFill>
                  <a:srgbClr val="1E293B"/>
                </a:solidFill>
              </a:defRPr>
            </a:pPr>
            <a:r>
              <a:t>• Readout Assignment Error: Asymmetric or symmetric detector misidentification.</a:t>
            </a:r>
          </a:p>
          <a:p>
            <a:pPr>
              <a:spcBef>
                <a:spcPts val="800"/>
              </a:spcBef>
              <a:defRPr sz="1300">
                <a:solidFill>
                  <a:srgbClr val="1E293B"/>
                </a:solidFill>
              </a:defRPr>
            </a:pPr>
            <a:r>
              <a:t>• IBM Fake Provider Integration: Native support for FakeBrisbane (127 qubits, calibrated physical T1, T2, readout error map).</a:t>
            </a:r>
          </a:p>
          <a:p>
            <a:pPr>
              <a:spcBef>
                <a:spcPts val="800"/>
              </a:spcBef>
              <a:defRPr sz="1300">
                <a:solidFill>
                  <a:srgbClr val="1E293B"/>
                </a:solidFill>
              </a:defRPr>
            </a:pPr>
            <a:r>
              <a:t>• Automatic Batching: Automatically batches circuits when simulating general Kraus hardware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Eavesdropper Interception Results: 25% QBER Validation</a:t>
            </a:r>
          </a:p>
        </p:txBody>
      </p:sp>
      <p:pic>
        <p:nvPicPr>
          <p:cNvPr id="3" name="Picture 2" descr="exp1_eve_fraction.png"/>
          <p:cNvPicPr>
            <a:picLocks noChangeAspect="1"/>
          </p:cNvPicPr>
          <p:nvPr/>
        </p:nvPicPr>
        <p:blipFill>
          <a:blip r:embed="rId2"/>
          <a:stretch>
            <a:fillRect/>
          </a:stretch>
        </p:blipFill>
        <p:spPr>
          <a:xfrm>
            <a:off x="731520" y="1645920"/>
            <a:ext cx="6217920" cy="4572000"/>
          </a:xfrm>
          <a:prstGeom prst="rect">
            <a:avLst/>
          </a:prstGeom>
        </p:spPr>
      </p:pic>
      <p:sp>
        <p:nvSpPr>
          <p:cNvPr id="4" name="Rounded Rectangle 3"/>
          <p:cNvSpPr/>
          <p:nvPr/>
        </p:nvSpPr>
        <p:spPr>
          <a:xfrm>
            <a:off x="7132320" y="1645920"/>
            <a:ext cx="42976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114800"/>
          </a:xfrm>
          <a:prstGeom prst="rect">
            <a:avLst/>
          </a:prstGeom>
          <a:noFill/>
        </p:spPr>
        <p:txBody>
          <a:bodyPr wrap="square">
            <a:spAutoFit/>
          </a:bodyPr>
          <a:lstStyle/>
          <a:p>
            <a:pPr>
              <a:defRPr sz="1900" b="1">
                <a:solidFill>
                  <a:srgbClr val="1E88E5"/>
                </a:solidFill>
              </a:defRPr>
            </a:pPr>
            <a:r>
              <a:t>Key Empirical Findings</a:t>
            </a:r>
          </a:p>
          <a:p>
            <a:pPr>
              <a:spcBef>
                <a:spcPts val="800"/>
              </a:spcBef>
              <a:defRPr sz="1300">
                <a:solidFill>
                  <a:srgbClr val="1E293B"/>
                </a:solidFill>
              </a:defRPr>
            </a:pPr>
            <a:r>
              <a:t>• Theoretical Agreement: Measured QBER closely tracks Q = 0.25 * f across all interception fractions.</a:t>
            </a:r>
          </a:p>
          <a:p>
            <a:pPr>
              <a:spcBef>
                <a:spcPts val="800"/>
              </a:spcBef>
              <a:defRPr sz="1300">
                <a:solidFill>
                  <a:srgbClr val="1E293B"/>
                </a:solidFill>
              </a:defRPr>
            </a:pPr>
            <a:r>
              <a:t>• Full Interception (f=1.0): Yielded 24.85% ± 2.80% QBER across 50 trials, perfectly confirming the 25.0% theoretical bound.</a:t>
            </a:r>
          </a:p>
          <a:p>
            <a:pPr>
              <a:spcBef>
                <a:spcPts val="800"/>
              </a:spcBef>
              <a:defRPr sz="1300">
                <a:solidFill>
                  <a:srgbClr val="1E293B"/>
                </a:solidFill>
              </a:defRPr>
            </a:pPr>
            <a:r>
              <a:t>• The Security Abort Limit: The 11% threshold is breached at f &gt; 0.44.</a:t>
            </a:r>
          </a:p>
          <a:p>
            <a:pPr>
              <a:spcBef>
                <a:spcPts val="800"/>
              </a:spcBef>
              <a:defRPr sz="1300">
                <a:solidFill>
                  <a:srgbClr val="1E293B"/>
                </a:solidFill>
              </a:defRPr>
            </a:pPr>
            <a:r>
              <a:t>• The Blind Zone Risk: When f &lt;= 0.44, Eve's presence alone produces QBER &lt;= 11%. In a naive protocol with zero noise awareness, Eve can intercept 40% of traffic without being caught!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Noise-Aware Analysis: 2D Parameter Heatmap</a:t>
            </a:r>
          </a:p>
        </p:txBody>
      </p:sp>
      <p:pic>
        <p:nvPicPr>
          <p:cNvPr id="3" name="Picture 2" descr="exp3_qber_heatmap.png"/>
          <p:cNvPicPr>
            <a:picLocks noChangeAspect="1"/>
          </p:cNvPicPr>
          <p:nvPr/>
        </p:nvPicPr>
        <p:blipFill>
          <a:blip r:embed="rId2"/>
          <a:stretch>
            <a:fillRect/>
          </a:stretch>
        </p:blipFill>
        <p:spPr>
          <a:xfrm>
            <a:off x="731520" y="1645920"/>
            <a:ext cx="6217920" cy="4572000"/>
          </a:xfrm>
          <a:prstGeom prst="rect">
            <a:avLst/>
          </a:prstGeom>
        </p:spPr>
      </p:pic>
      <p:sp>
        <p:nvSpPr>
          <p:cNvPr id="4" name="Rounded Rectangle 3"/>
          <p:cNvSpPr/>
          <p:nvPr/>
        </p:nvSpPr>
        <p:spPr>
          <a:xfrm>
            <a:off x="7132320" y="1645920"/>
            <a:ext cx="42976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114800"/>
          </a:xfrm>
          <a:prstGeom prst="rect">
            <a:avLst/>
          </a:prstGeom>
          <a:noFill/>
        </p:spPr>
        <p:txBody>
          <a:bodyPr wrap="square">
            <a:spAutoFit/>
          </a:bodyPr>
          <a:lstStyle/>
          <a:p>
            <a:pPr>
              <a:defRPr sz="1900" b="1">
                <a:solidFill>
                  <a:srgbClr val="6D28D9"/>
                </a:solidFill>
              </a:defRPr>
            </a:pPr>
            <a:r>
              <a:t>Mapping the Security Frontier</a:t>
            </a:r>
          </a:p>
          <a:p>
            <a:pPr>
              <a:spcBef>
                <a:spcPts val="1000"/>
              </a:spcBef>
              <a:defRPr sz="1300">
                <a:solidFill>
                  <a:srgbClr val="1E293B"/>
                </a:solidFill>
              </a:defRPr>
            </a:pPr>
            <a:r>
              <a:t>• The Equifinality Problem: A measured QBER of 9% can be generated by 18% channel noise alone, OR Eve tapping 36% of bits, OR a mix.</a:t>
            </a:r>
          </a:p>
          <a:p>
            <a:pPr>
              <a:spcBef>
                <a:spcPts val="1000"/>
              </a:spcBef>
              <a:defRPr sz="1300">
                <a:solidFill>
                  <a:srgbClr val="1E293B"/>
                </a:solidFill>
              </a:defRPr>
            </a:pPr>
            <a:r>
              <a:t>• 11% Secrecy Contour: The dashed cyan boundary defines the maximum allowable operational margin before Shannon leakage outpaces key generation.</a:t>
            </a:r>
          </a:p>
          <a:p>
            <a:pPr>
              <a:spcBef>
                <a:spcPts val="1000"/>
              </a:spcBef>
              <a:defRPr sz="1300">
                <a:solidFill>
                  <a:srgbClr val="1E293B"/>
                </a:solidFill>
              </a:defRPr>
            </a:pPr>
            <a:r>
              <a:t>• Combined Effects: Channel noise narrows the eavesdropper detection window, forcing Alice and Bob to dynamically calibrate link baselines.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Detection Reliability: Resolving Ambiguity via Sample Scaling</a:t>
            </a:r>
          </a:p>
        </p:txBody>
      </p:sp>
      <p:pic>
        <p:nvPicPr>
          <p:cNvPr id="3" name="Picture 2" descr="exp4_detection_analysis.png"/>
          <p:cNvPicPr>
            <a:picLocks noChangeAspect="1"/>
          </p:cNvPicPr>
          <p:nvPr/>
        </p:nvPicPr>
        <p:blipFill>
          <a:blip r:embed="rId2"/>
          <a:stretch>
            <a:fillRect/>
          </a:stretch>
        </p:blipFill>
        <p:spPr>
          <a:xfrm>
            <a:off x="731520" y="1645920"/>
            <a:ext cx="6217920" cy="4572000"/>
          </a:xfrm>
          <a:prstGeom prst="rect">
            <a:avLst/>
          </a:prstGeom>
        </p:spPr>
      </p:pic>
      <p:sp>
        <p:nvSpPr>
          <p:cNvPr id="4" name="Rounded Rectangle 3"/>
          <p:cNvSpPr/>
          <p:nvPr/>
        </p:nvSpPr>
        <p:spPr>
          <a:xfrm>
            <a:off x="7132320" y="1645920"/>
            <a:ext cx="42976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114800"/>
          </a:xfrm>
          <a:prstGeom prst="rect">
            <a:avLst/>
          </a:prstGeom>
          <a:noFill/>
        </p:spPr>
        <p:txBody>
          <a:bodyPr wrap="square">
            <a:spAutoFit/>
          </a:bodyPr>
          <a:lstStyle/>
          <a:p>
            <a:pPr>
              <a:defRPr sz="1900" b="1">
                <a:solidFill>
                  <a:srgbClr val="D32F2F"/>
                </a:solidFill>
              </a:defRPr>
            </a:pPr>
            <a:r>
              <a:t>How EveWatch Solves This</a:t>
            </a:r>
          </a:p>
          <a:p>
            <a:pPr>
              <a:spcBef>
                <a:spcPts val="800"/>
              </a:spcBef>
              <a:defRPr sz="1300">
                <a:solidFill>
                  <a:srgbClr val="1E293B"/>
                </a:solidFill>
              </a:defRPr>
            </a:pPr>
            <a:r>
              <a:t>• Small Sample Hazard (K=50): Finite-size binomial dispersion causes a 26.0% False Alarm Rate and a 28.0% Missed Detection Rate!</a:t>
            </a:r>
          </a:p>
          <a:p>
            <a:pPr>
              <a:spcBef>
                <a:spcPts val="800"/>
              </a:spcBef>
              <a:defRPr sz="1300">
                <a:solidFill>
                  <a:srgbClr val="1E293B"/>
                </a:solidFill>
              </a:defRPr>
            </a:pPr>
            <a:r>
              <a:t>• 1 in 4 Insecurity: At K=50, 28% of compromised keys slip past undetected.</a:t>
            </a:r>
          </a:p>
          <a:p>
            <a:pPr>
              <a:spcBef>
                <a:spcPts val="800"/>
              </a:spcBef>
              <a:defRPr sz="1300">
                <a:solidFill>
                  <a:srgbClr val="1E293B"/>
                </a:solidFill>
              </a:defRPr>
            </a:pPr>
            <a:r>
              <a:t>• Statistical Convergence: As sample size scales to K &gt;= 600, variance collapses as 1/sqrt(K).</a:t>
            </a:r>
          </a:p>
          <a:p>
            <a:pPr>
              <a:spcBef>
                <a:spcPts val="800"/>
              </a:spcBef>
              <a:defRPr sz="1300">
                <a:solidFill>
                  <a:srgbClr val="1E293B"/>
                </a:solidFill>
              </a:defRPr>
            </a:pPr>
            <a:r>
              <a:t>• Zero-Error Detection: At K=1200, both False Alarms and Missed Detections drop to 0.0%, achieving mathematically verified channel trust.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Working Prototype: Streamlit Interactive Dashboard (app.py)</a:t>
            </a:r>
          </a:p>
        </p:txBody>
      </p:sp>
      <p:sp>
        <p:nvSpPr>
          <p:cNvPr id="3" name="Rounded Rectangle 2"/>
          <p:cNvSpPr/>
          <p:nvPr/>
        </p:nvSpPr>
        <p:spPr>
          <a:xfrm>
            <a:off x="731520" y="1645920"/>
            <a:ext cx="525780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4892040" cy="1920240"/>
          </a:xfrm>
          <a:prstGeom prst="rect">
            <a:avLst/>
          </a:prstGeom>
          <a:noFill/>
        </p:spPr>
        <p:txBody>
          <a:bodyPr wrap="square">
            <a:spAutoFit/>
          </a:bodyPr>
          <a:lstStyle/>
          <a:p>
            <a:pPr>
              <a:defRPr sz="1700" b="1">
                <a:solidFill>
                  <a:srgbClr val="1E88E5"/>
                </a:solidFill>
              </a:defRPr>
            </a:pPr>
            <a:r>
              <a:t>Tab 1: Protocol Demo</a:t>
            </a:r>
          </a:p>
          <a:p>
            <a:pPr>
              <a:spcBef>
                <a:spcPts val="600"/>
              </a:spcBef>
              <a:defRPr sz="1300">
                <a:solidFill>
                  <a:srgbClr val="1E293B"/>
                </a:solidFill>
              </a:defRPr>
            </a:pPr>
            <a:r>
              <a:t>Real-time interactive BB84 simulation.</a:t>
            </a:r>
            <a:br/>
            <a:r>
              <a:t>Step-by-step table highlighting Alice bits, bases, Eve actions, and Bob measurements.</a:t>
            </a:r>
            <a:br/>
            <a:r>
              <a:t>Color-coded security verdict banners.</a:t>
            </a:r>
          </a:p>
        </p:txBody>
      </p:sp>
      <p:sp>
        <p:nvSpPr>
          <p:cNvPr id="5" name="Rounded Rectangle 4"/>
          <p:cNvSpPr/>
          <p:nvPr/>
        </p:nvSpPr>
        <p:spPr>
          <a:xfrm>
            <a:off x="6172200" y="1645920"/>
            <a:ext cx="525780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80" y="1783080"/>
            <a:ext cx="4892040" cy="1920240"/>
          </a:xfrm>
          <a:prstGeom prst="rect">
            <a:avLst/>
          </a:prstGeom>
          <a:noFill/>
        </p:spPr>
        <p:txBody>
          <a:bodyPr wrap="square">
            <a:spAutoFit/>
          </a:bodyPr>
          <a:lstStyle/>
          <a:p>
            <a:pPr>
              <a:defRPr sz="1700" b="1">
                <a:solidFill>
                  <a:srgbClr val="1E88E5"/>
                </a:solidFill>
              </a:defRPr>
            </a:pPr>
            <a:r>
              <a:t>Tab 2: Empirical Experiments</a:t>
            </a:r>
          </a:p>
          <a:p>
            <a:pPr>
              <a:spcBef>
                <a:spcPts val="600"/>
              </a:spcBef>
              <a:defRPr sz="1300">
                <a:solidFill>
                  <a:srgbClr val="1E293B"/>
                </a:solidFill>
              </a:defRPr>
            </a:pPr>
            <a:r>
              <a:t>Embedded interactive visualizers for all 6 empirical research benchmarks.</a:t>
            </a:r>
            <a:br/>
            <a:r>
              <a:t>Inspect CSV datasets, QBER curves, heatmaps, and detection error curves.</a:t>
            </a:r>
          </a:p>
        </p:txBody>
      </p:sp>
      <p:sp>
        <p:nvSpPr>
          <p:cNvPr id="7" name="Rounded Rectangle 6"/>
          <p:cNvSpPr/>
          <p:nvPr/>
        </p:nvSpPr>
        <p:spPr>
          <a:xfrm>
            <a:off x="731520" y="4023360"/>
            <a:ext cx="525780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60520"/>
            <a:ext cx="4892040" cy="1920240"/>
          </a:xfrm>
          <a:prstGeom prst="rect">
            <a:avLst/>
          </a:prstGeom>
          <a:noFill/>
        </p:spPr>
        <p:txBody>
          <a:bodyPr wrap="square">
            <a:spAutoFit/>
          </a:bodyPr>
          <a:lstStyle/>
          <a:p>
            <a:pPr>
              <a:defRPr sz="1700" b="1">
                <a:solidFill>
                  <a:srgbClr val="1E88E5"/>
                </a:solidFill>
              </a:defRPr>
            </a:pPr>
            <a:r>
              <a:t>Tab 3: Secure Messaging (OTP)</a:t>
            </a:r>
          </a:p>
          <a:p>
            <a:pPr>
              <a:spcBef>
                <a:spcPts val="600"/>
              </a:spcBef>
              <a:defRPr sz="1300">
                <a:solidFill>
                  <a:srgbClr val="1E293B"/>
                </a:solidFill>
              </a:defRPr>
            </a:pPr>
            <a:r>
              <a:t>Type custom messages.</a:t>
            </a:r>
            <a:br/>
            <a:r>
              <a:t>Encrypt and decrypt with distilled quantum key using One-Time Pad (XOR).</a:t>
            </a:r>
            <a:br/>
            <a:r>
              <a:t>Visual inspection of Eve's corrupted decryption attempt.</a:t>
            </a:r>
          </a:p>
        </p:txBody>
      </p:sp>
      <p:sp>
        <p:nvSpPr>
          <p:cNvPr id="9" name="Rounded Rectangle 8"/>
          <p:cNvSpPr/>
          <p:nvPr/>
        </p:nvSpPr>
        <p:spPr>
          <a:xfrm>
            <a:off x="6172200" y="4023360"/>
            <a:ext cx="525780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160520"/>
            <a:ext cx="4892040" cy="1920240"/>
          </a:xfrm>
          <a:prstGeom prst="rect">
            <a:avLst/>
          </a:prstGeom>
          <a:noFill/>
        </p:spPr>
        <p:txBody>
          <a:bodyPr wrap="square">
            <a:spAutoFit/>
          </a:bodyPr>
          <a:lstStyle/>
          <a:p>
            <a:pPr>
              <a:defRPr sz="1700" b="1">
                <a:solidFill>
                  <a:srgbClr val="1E88E5"/>
                </a:solidFill>
              </a:defRPr>
            </a:pPr>
            <a:r>
              <a:t>Tab 4: How BB84 Works</a:t>
            </a:r>
          </a:p>
          <a:p>
            <a:pPr>
              <a:spcBef>
                <a:spcPts val="600"/>
              </a:spcBef>
              <a:defRPr sz="1300">
                <a:solidFill>
                  <a:srgbClr val="1E293B"/>
                </a:solidFill>
              </a:defRPr>
            </a:pPr>
            <a:r>
              <a:t>Plain-language educational guide explaining the 4 stages of BB84, conjugate bases, and quantum mechanics fundamentals for students and judges.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Innovation: What Makes EveWatch Different?</a:t>
            </a:r>
          </a:p>
        </p:txBody>
      </p:sp>
      <p:graphicFrame>
        <p:nvGraphicFramePr>
          <p:cNvPr id="3" name="Table 2"/>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926080"/>
                <a:gridCol w="3840480"/>
                <a:gridCol w="3931920"/>
              </a:tblGrid>
              <a:tr h="762000">
                <a:tc>
                  <a:txBody>
                    <a:bodyPr/>
                    <a:lstStyle/>
                    <a:p>
                      <a:pPr>
                        <a:defRPr b="1" sz="1400">
                          <a:solidFill>
                            <a:srgbClr val="FFFFFF"/>
                          </a:solidFill>
                        </a:defRPr>
                      </a:pPr>
                      <a:r>
                        <a:t>Feature / Dimension</a:t>
                      </a:r>
                    </a:p>
                  </a:txBody>
                  <a:tcPr>
                    <a:solidFill>
                      <a:srgbClr val="182B49"/>
                    </a:solidFill>
                  </a:tcPr>
                </a:tc>
                <a:tc>
                  <a:txBody>
                    <a:bodyPr/>
                    <a:lstStyle/>
                    <a:p>
                      <a:pPr>
                        <a:defRPr b="1" sz="1400">
                          <a:solidFill>
                            <a:srgbClr val="FFFFFF"/>
                          </a:solidFill>
                        </a:defRPr>
                      </a:pPr>
                      <a:r>
                        <a:t>Standard Student BB84 Project</a:t>
                      </a:r>
                    </a:p>
                  </a:txBody>
                  <a:tcPr>
                    <a:solidFill>
                      <a:srgbClr val="182B49"/>
                    </a:solidFill>
                  </a:tcPr>
                </a:tc>
                <a:tc>
                  <a:txBody>
                    <a:bodyPr/>
                    <a:lstStyle/>
                    <a:p>
                      <a:pPr>
                        <a:defRPr b="1" sz="1400">
                          <a:solidFill>
                            <a:srgbClr val="FFFFFF"/>
                          </a:solidFill>
                        </a:defRPr>
                      </a:pPr>
                      <a:r>
                        <a:t>EveWatch (Our Project)</a:t>
                      </a:r>
                    </a:p>
                  </a:txBody>
                  <a:tcPr>
                    <a:solidFill>
                      <a:srgbClr val="182B49"/>
                    </a:solidFill>
                  </a:tcPr>
                </a:tc>
              </a:tr>
              <a:tr h="762000">
                <a:tc>
                  <a:txBody>
                    <a:bodyPr/>
                    <a:lstStyle/>
                    <a:p>
                      <a:pPr>
                        <a:defRPr sz="1200">
                          <a:solidFill>
                            <a:srgbClr val="1E293B"/>
                          </a:solidFill>
                        </a:defRPr>
                      </a:pPr>
                      <a:r>
                        <a:t>Qiskit API Version</a:t>
                      </a:r>
                    </a:p>
                  </a:txBody>
                  <a:tcPr>
                    <a:solidFill>
                      <a:srgbClr val="F1F5F9"/>
                    </a:solidFill>
                  </a:tcPr>
                </a:tc>
                <a:tc>
                  <a:txBody>
                    <a:bodyPr/>
                    <a:lstStyle/>
                    <a:p>
                      <a:pPr>
                        <a:defRPr sz="1200">
                          <a:solidFill>
                            <a:srgbClr val="1E293B"/>
                          </a:solidFill>
                        </a:defRPr>
                      </a:pPr>
                      <a:r>
                        <a:t>Deprecated execute(), BasicAer</a:t>
                      </a:r>
                    </a:p>
                  </a:txBody>
                  <a:tcPr>
                    <a:solidFill>
                      <a:srgbClr val="F1F5F9"/>
                    </a:solidFill>
                  </a:tcPr>
                </a:tc>
                <a:tc>
                  <a:txBody>
                    <a:bodyPr/>
                    <a:lstStyle/>
                    <a:p>
                      <a:pPr>
                        <a:defRPr sz="1200" b="1">
                          <a:solidFill>
                            <a:srgbClr val="1E88E5"/>
                          </a:solidFill>
                        </a:defRPr>
                      </a:pPr>
                      <a:r>
                        <a:t>Current Qiskit 2.x &amp; AerSimulator</a:t>
                      </a:r>
                    </a:p>
                  </a:txBody>
                  <a:tcPr>
                    <a:solidFill>
                      <a:srgbClr val="F1F5F9"/>
                    </a:solidFill>
                  </a:tcPr>
                </a:tc>
              </a:tr>
              <a:tr h="762000">
                <a:tc>
                  <a:txBody>
                    <a:bodyPr/>
                    <a:lstStyle/>
                    <a:p>
                      <a:pPr>
                        <a:defRPr sz="1200">
                          <a:solidFill>
                            <a:srgbClr val="1E293B"/>
                          </a:solidFill>
                        </a:defRPr>
                      </a:pPr>
                      <a:r>
                        <a:t>Simulation Speed</a:t>
                      </a:r>
                    </a:p>
                  </a:txBody>
                  <a:tcPr>
                    <a:solidFill>
                      <a:srgbClr val="FFFFFF"/>
                    </a:solidFill>
                  </a:tcPr>
                </a:tc>
                <a:tc>
                  <a:txBody>
                    <a:bodyPr/>
                    <a:lstStyle/>
                    <a:p>
                      <a:pPr>
                        <a:defRPr sz="1200">
                          <a:solidFill>
                            <a:srgbClr val="1E293B"/>
                          </a:solidFill>
                        </a:defRPr>
                      </a:pPr>
                      <a:r>
                        <a:t>Slow 1-qubit circuits</a:t>
                      </a:r>
                    </a:p>
                  </a:txBody>
                  <a:tcPr>
                    <a:solidFill>
                      <a:srgbClr val="FFFFFF"/>
                    </a:solidFill>
                  </a:tcPr>
                </a:tc>
                <a:tc>
                  <a:txBody>
                    <a:bodyPr/>
                    <a:lstStyle/>
                    <a:p>
                      <a:pPr>
                        <a:defRPr sz="1200" b="1">
                          <a:solidFill>
                            <a:srgbClr val="1E88E5"/>
                          </a:solidFill>
                        </a:defRPr>
                      </a:pPr>
                      <a:r>
                        <a:t>Aer Stabilizer Clifford scaling O(N) (1000q in 35ms)</a:t>
                      </a:r>
                    </a:p>
                  </a:txBody>
                  <a:tcPr>
                    <a:solidFill>
                      <a:srgbClr val="FFFFFF"/>
                    </a:solidFill>
                  </a:tcPr>
                </a:tc>
              </a:tr>
              <a:tr h="762000">
                <a:tc>
                  <a:txBody>
                    <a:bodyPr/>
                    <a:lstStyle/>
                    <a:p>
                      <a:pPr>
                        <a:defRPr sz="1200">
                          <a:solidFill>
                            <a:srgbClr val="1E293B"/>
                          </a:solidFill>
                        </a:defRPr>
                      </a:pPr>
                      <a:r>
                        <a:t>Adversary Modeling</a:t>
                      </a:r>
                    </a:p>
                  </a:txBody>
                  <a:tcPr>
                    <a:solidFill>
                      <a:srgbClr val="F1F5F9"/>
                    </a:solidFill>
                  </a:tcPr>
                </a:tc>
                <a:tc>
                  <a:txBody>
                    <a:bodyPr/>
                    <a:lstStyle/>
                    <a:p>
                      <a:pPr>
                        <a:defRPr sz="1200">
                          <a:solidFill>
                            <a:srgbClr val="1E293B"/>
                          </a:solidFill>
                        </a:defRPr>
                      </a:pPr>
                      <a:r>
                        <a:t>Binary On/Off toggle</a:t>
                      </a:r>
                    </a:p>
                  </a:txBody>
                  <a:tcPr>
                    <a:solidFill>
                      <a:srgbClr val="F1F5F9"/>
                    </a:solidFill>
                  </a:tcPr>
                </a:tc>
                <a:tc>
                  <a:txBody>
                    <a:bodyPr/>
                    <a:lstStyle/>
                    <a:p>
                      <a:pPr>
                        <a:defRPr sz="1200" b="1">
                          <a:solidFill>
                            <a:srgbClr val="1E88E5"/>
                          </a:solidFill>
                        </a:defRPr>
                      </a:pPr>
                      <a:r>
                        <a:t>Continuous interception fraction f in [0, 1]</a:t>
                      </a:r>
                    </a:p>
                  </a:txBody>
                  <a:tcPr>
                    <a:solidFill>
                      <a:srgbClr val="F1F5F9"/>
                    </a:solidFill>
                  </a:tcPr>
                </a:tc>
              </a:tr>
              <a:tr h="762000">
                <a:tc>
                  <a:txBody>
                    <a:bodyPr/>
                    <a:lstStyle/>
                    <a:p>
                      <a:pPr>
                        <a:defRPr sz="1200">
                          <a:solidFill>
                            <a:srgbClr val="1E293B"/>
                          </a:solidFill>
                        </a:defRPr>
                      </a:pPr>
                      <a:r>
                        <a:t>Noise Modeling</a:t>
                      </a:r>
                    </a:p>
                  </a:txBody>
                  <a:tcPr>
                    <a:solidFill>
                      <a:srgbClr val="FFFFFF"/>
                    </a:solidFill>
                  </a:tcPr>
                </a:tc>
                <a:tc>
                  <a:txBody>
                    <a:bodyPr/>
                    <a:lstStyle/>
                    <a:p>
                      <a:pPr>
                        <a:defRPr sz="1200">
                          <a:solidFill>
                            <a:srgbClr val="1E293B"/>
                          </a:solidFill>
                        </a:defRPr>
                      </a:pPr>
                      <a:r>
                        <a:t>None (Idealized)</a:t>
                      </a:r>
                    </a:p>
                  </a:txBody>
                  <a:tcPr>
                    <a:solidFill>
                      <a:srgbClr val="FFFFFF"/>
                    </a:solidFill>
                  </a:tcPr>
                </a:tc>
                <a:tc>
                  <a:txBody>
                    <a:bodyPr/>
                    <a:lstStyle/>
                    <a:p>
                      <a:pPr>
                        <a:defRPr sz="1200" b="1">
                          <a:solidFill>
                            <a:srgbClr val="1E88E5"/>
                          </a:solidFill>
                        </a:defRPr>
                      </a:pPr>
                      <a:r>
                        <a:t>Depolarizing, Readout, &amp; Calibrated IBM 127Q</a:t>
                      </a:r>
                    </a:p>
                  </a:txBody>
                  <a:tcPr>
                    <a:solidFill>
                      <a:srgbClr val="FFFFFF"/>
                    </a:solidFill>
                  </a:tcPr>
                </a:tc>
              </a:tr>
              <a:tr h="762000">
                <a:tc>
                  <a:txBody>
                    <a:bodyPr/>
                    <a:lstStyle/>
                    <a:p>
                      <a:pPr>
                        <a:defRPr sz="1200">
                          <a:solidFill>
                            <a:srgbClr val="1E293B"/>
                          </a:solidFill>
                        </a:defRPr>
                      </a:pPr>
                      <a:r>
                        <a:t>Core Research Question</a:t>
                      </a:r>
                    </a:p>
                  </a:txBody>
                  <a:tcPr>
                    <a:solidFill>
                      <a:srgbClr val="F1F5F9"/>
                    </a:solidFill>
                  </a:tcPr>
                </a:tc>
                <a:tc>
                  <a:txBody>
                    <a:bodyPr/>
                    <a:lstStyle/>
                    <a:p>
                      <a:pPr>
                        <a:defRPr sz="1200">
                          <a:solidFill>
                            <a:srgbClr val="1E293B"/>
                          </a:solidFill>
                        </a:defRPr>
                      </a:pPr>
                      <a:r>
                        <a:t>'Does BB84 transfer bits?'</a:t>
                      </a:r>
                    </a:p>
                  </a:txBody>
                  <a:tcPr>
                    <a:solidFill>
                      <a:srgbClr val="F1F5F9"/>
                    </a:solidFill>
                  </a:tcPr>
                </a:tc>
                <a:tc>
                  <a:txBody>
                    <a:bodyPr/>
                    <a:lstStyle/>
                    <a:p>
                      <a:pPr>
                        <a:defRPr sz="1200" b="1">
                          <a:solidFill>
                            <a:srgbClr val="1E88E5"/>
                          </a:solidFill>
                        </a:defRPr>
                      </a:pPr>
                      <a:r>
                        <a:t>'Can Alice &amp; Bob tell noise from Eve?'</a:t>
                      </a:r>
                    </a:p>
                  </a:txBody>
                  <a:tcPr>
                    <a:solidFill>
                      <a:srgbClr val="F1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1E88E5"/>
                </a:solidFill>
              </a:defRPr>
            </a:pPr>
            <a:r>
              <a:t>QISKIT FALL FEST 2026</a:t>
            </a:r>
          </a:p>
          <a:p>
            <a:pPr>
              <a:defRPr sz="2400" b="1">
                <a:solidFill>
                  <a:srgbClr val="182B49"/>
                </a:solidFill>
              </a:defRPr>
            </a:pPr>
            <a:r>
              <a:t>Impact, Honest Limitations, and Future Roadmap</a:t>
            </a:r>
          </a:p>
        </p:txBody>
      </p:sp>
      <p:sp>
        <p:nvSpPr>
          <p:cNvPr id="3" name="Rounded Rectangle 2"/>
          <p:cNvSpPr/>
          <p:nvPr/>
        </p:nvSpPr>
        <p:spPr>
          <a:xfrm>
            <a:off x="731520" y="1645920"/>
            <a:ext cx="512064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114800"/>
          </a:xfrm>
          <a:prstGeom prst="rect">
            <a:avLst/>
          </a:prstGeom>
          <a:noFill/>
        </p:spPr>
        <p:txBody>
          <a:bodyPr wrap="square">
            <a:spAutoFit/>
          </a:bodyPr>
          <a:lstStyle/>
          <a:p>
            <a:pPr>
              <a:defRPr sz="1900" b="1">
                <a:solidFill>
                  <a:srgbClr val="D32F2F"/>
                </a:solidFill>
              </a:defRPr>
            </a:pPr>
            <a:r>
              <a:t>Honest Limitations</a:t>
            </a:r>
          </a:p>
          <a:p>
            <a:pPr>
              <a:spcBef>
                <a:spcPts val="800"/>
              </a:spcBef>
              <a:defRPr sz="1300">
                <a:solidFill>
                  <a:srgbClr val="1E293B"/>
                </a:solidFill>
              </a:defRPr>
            </a:pPr>
            <a:r>
              <a:t>• Simulation Link: Optical links are modeled via depolarizing Kraus channels rather than physical fiber-optic lasers and SPAD detectors.</a:t>
            </a:r>
          </a:p>
          <a:p>
            <a:pPr>
              <a:spcBef>
                <a:spcPts val="800"/>
              </a:spcBef>
              <a:defRPr sz="1300">
                <a:solidFill>
                  <a:srgbClr val="1E293B"/>
                </a:solidFill>
              </a:defRPr>
            </a:pPr>
            <a:r>
              <a:t>• Attack Model: Focuses on intercept-resend; does not model photon-number-splitting (PNS) against weak coherent pulses.</a:t>
            </a:r>
          </a:p>
          <a:p>
            <a:pPr>
              <a:spcBef>
                <a:spcPts val="800"/>
              </a:spcBef>
              <a:defRPr sz="1300">
                <a:solidFill>
                  <a:srgbClr val="1E293B"/>
                </a:solidFill>
              </a:defRPr>
            </a:pPr>
            <a:r>
              <a:t>• Asymptotic Assumption: The 11% cutoff assumes infinite key limits; finite-key regimes impose stricter penalties.</a:t>
            </a:r>
          </a:p>
        </p:txBody>
      </p:sp>
      <p:sp>
        <p:nvSpPr>
          <p:cNvPr id="5" name="Rounded Rectangle 4"/>
          <p:cNvSpPr/>
          <p:nvPr/>
        </p:nvSpPr>
        <p:spPr>
          <a:xfrm>
            <a:off x="6217920" y="1645920"/>
            <a:ext cx="5212080" cy="4572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663440" cy="4114800"/>
          </a:xfrm>
          <a:prstGeom prst="rect">
            <a:avLst/>
          </a:prstGeom>
          <a:noFill/>
        </p:spPr>
        <p:txBody>
          <a:bodyPr wrap="square">
            <a:spAutoFit/>
          </a:bodyPr>
          <a:lstStyle/>
          <a:p>
            <a:pPr>
              <a:defRPr sz="1900" b="1">
                <a:solidFill>
                  <a:srgbClr val="2E7D32"/>
                </a:solidFill>
              </a:defRPr>
            </a:pPr>
            <a:r>
              <a:t>Future Scope &amp; Roadmap</a:t>
            </a:r>
          </a:p>
          <a:p>
            <a:pPr>
              <a:spcBef>
                <a:spcPts val="800"/>
              </a:spcBef>
              <a:defRPr sz="1300">
                <a:solidFill>
                  <a:srgbClr val="1E293B"/>
                </a:solidFill>
              </a:defRPr>
            </a:pPr>
            <a:r>
              <a:t>• Decoy-State Protocol: Implement vacuum + weak decoy states to neutralize PNS attacks.</a:t>
            </a:r>
          </a:p>
          <a:p>
            <a:pPr>
              <a:spcBef>
                <a:spcPts val="800"/>
              </a:spcBef>
              <a:defRPr sz="1300">
                <a:solidFill>
                  <a:srgbClr val="1E293B"/>
                </a:solidFill>
              </a:defRPr>
            </a:pPr>
            <a:r>
              <a:t>• Entanglement-Based E91: Use Bell states and CHSH inequality tests to detect eavesdroppers without basis disclosure.</a:t>
            </a:r>
          </a:p>
          <a:p>
            <a:pPr>
              <a:spcBef>
                <a:spcPts val="800"/>
              </a:spcBef>
              <a:defRPr sz="1300">
                <a:solidFill>
                  <a:srgbClr val="1E293B"/>
                </a:solidFill>
              </a:defRPr>
            </a:pPr>
            <a:r>
              <a:t>• Post-Quantum Hybridization: Combine BB84 quantum keys with NIST-standardized lattice algorithms (ML-KEM / Kyber).</a:t>
            </a:r>
          </a:p>
          <a:p>
            <a:pPr>
              <a:spcBef>
                <a:spcPts val="800"/>
              </a:spcBef>
              <a:defRPr sz="1300">
                <a:solidFill>
                  <a:srgbClr val="1E293B"/>
                </a:solidFill>
              </a:defRPr>
            </a:pPr>
            <a:r>
              <a:t>• Physical Optical Testbed: Deploy on multi-node quantum optical links with physical single-photon detectors.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389120"/>
          </a:xfrm>
          <a:prstGeom prst="rect">
            <a:avLst/>
          </a:prstGeom>
          <a:noFill/>
        </p:spPr>
        <p:txBody>
          <a:bodyPr wrap="square">
            <a:spAutoFit/>
          </a:bodyPr>
          <a:lstStyle/>
          <a:p>
            <a:pPr>
              <a:defRPr sz="4000" b="1">
                <a:solidFill>
                  <a:srgbClr val="1E88E5"/>
                </a:solidFill>
              </a:defRPr>
            </a:pPr>
            <a:r>
              <a:t>Conclusion &amp; Submission</a:t>
            </a:r>
          </a:p>
          <a:p>
            <a:pPr>
              <a:spcBef>
                <a:spcPts val="1400"/>
              </a:spcBef>
              <a:defRPr sz="1800">
                <a:solidFill>
                  <a:srgbClr val="FFFFFF"/>
                </a:solidFill>
              </a:defRPr>
            </a:pPr>
            <a:r>
              <a:t>EveWatch demonstrates that while hardware noise and eavesdropping conflate at the raw QBER level, statistical sample scaling (K &gt;= 600) and link baseline calibration enable provable, reliable quantum security.</a:t>
            </a:r>
          </a:p>
          <a:p>
            <a:br/>
            <a:pPr>
              <a:spcBef>
                <a:spcPts val="1600"/>
              </a:spcBef>
              <a:defRPr sz="1600">
                <a:solidFill>
                  <a:srgbClr val="94A3B8"/>
                </a:solidFill>
              </a:defRPr>
            </a:pPr>
            <a:r>
              <a:t>📦 Open-Source GitHub Repository:</a:t>
            </a:r>
            <a:br/>
            <a:r>
              <a:t>https://github.com/Ayush-web28/EveWatch</a:t>
            </a:r>
            <a:br/>
            <a:br/>
            <a:r>
              <a:t>Team: Ayush Trivedi | Qiskit Fall Fest 2026 @ MPSTME, NMIMS Mumbai</a:t>
            </a:r>
            <a:br/>
            <a:r>
              <a:t>Thank you to IBM Quantum and MPSTME mentors!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